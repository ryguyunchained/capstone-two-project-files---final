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Conflict Recall (class 1)</c:v>
                </c:pt>
              </c:strCache>
            </c:strRef>
          </c:tx>
          <c:spPr>
            <a:solidFill>
              <a:srgbClr val="C0492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2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PCA + LogReg
(baseline)</c:v>
                  </c:pt>
                  <c:pt idx="1">
                    <c:v>LightGBM</c:v>
                  </c:pt>
                  <c:pt idx="2">
                    <c:v>LightGBM
(tuned)</c:v>
                  </c:pt>
                  <c:pt idx="3">
                    <c:v>SVM
(tuned)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0.65</c:v>
                </c:pt>
                <c:pt idx="1">
                  <c:v>0.95</c:v>
                </c:pt>
                <c:pt idx="2">
                  <c:v>0.97</c:v>
                </c:pt>
                <c:pt idx="3">
                  <c:v>0.87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Conflict F1 (class 1)</c:v>
                </c:pt>
              </c:strCache>
            </c:strRef>
          </c:tx>
          <c:spPr>
            <a:solidFill>
              <a:srgbClr val="3D5A7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2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PCA + LogReg
(baseline)</c:v>
                  </c:pt>
                  <c:pt idx="1">
                    <c:v>LightGBM</c:v>
                  </c:pt>
                  <c:pt idx="2">
                    <c:v>LightGBM
(tuned)</c:v>
                  </c:pt>
                  <c:pt idx="3">
                    <c:v>SVM
(tuned)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0.71</c:v>
                </c:pt>
                <c:pt idx="1">
                  <c:v>0.89</c:v>
                </c:pt>
                <c:pt idx="2">
                  <c:v>0.9</c:v>
                </c:pt>
                <c:pt idx="3">
                  <c:v>0.83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622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7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3475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937760" cy="4937760"/>
          </a:xfrm>
          <a:prstGeom prst="ellipse">
            <a:avLst/>
          </a:prstGeom>
          <a:solidFill>
            <a:srgbClr val="3D5A7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023360"/>
            <a:ext cx="2926080" cy="2926080"/>
          </a:xfrm>
          <a:prstGeom prst="ellipse">
            <a:avLst/>
          </a:prstGeom>
          <a:solidFill>
            <a:srgbClr val="C0492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37360"/>
            <a:ext cx="658368" cy="658368"/>
          </a:xfrm>
          <a:prstGeom prst="ellipse">
            <a:avLst/>
          </a:prstGeom>
          <a:solidFill>
            <a:srgbClr val="C0492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0195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97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A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TWO  ·  DATA SCIENCE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30175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Geopolitical Conflict Risk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41248" y="42519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A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machine-learning model that flags the countries most likely to experience a conflict escalation within the next six months.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" y="5897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Lange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1248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Global Geopolitical Conflict Dataset (2020–2025)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0492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44168" y="4480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44168" y="70408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6675120" cy="1874520"/>
          </a:xfrm>
          <a:prstGeom prst="roundRect">
            <a:avLst>
              <a:gd name="adj" fmla="val 4878"/>
            </a:avLst>
          </a:prstGeom>
          <a:solidFill>
            <a:srgbClr val="16222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627632"/>
            <a:ext cx="6080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C0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countries are most likely to experience conflict in the next six months, based on a multi-factor assessment of their month-to-month geopolitical conditions?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361188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Approach.  </a:t>
            </a:r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from historical escalations using conditions present six months prior to each event, so current data can flag near-term risk. Inputs include inflation, military budgets, income disparity, press freedom, and other economic and event-based indicators.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48640" y="502920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signal, not a verdict.  </a:t>
            </a:r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Diplomatic efforts that defuse tensions are invisible in the data, and composite scores like press freedom can be imprecise — so the output is best read as a risk signal to inform human judgment, not a deterministic forecast.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635240" y="1463040"/>
            <a:ext cx="4023360" cy="4937760"/>
          </a:xfrm>
          <a:prstGeom prst="roundRect">
            <a:avLst>
              <a:gd name="adj" fmla="val 2273"/>
            </a:avLst>
          </a:prstGeom>
          <a:solidFill>
            <a:srgbClr val="F1F4F7"/>
          </a:solidFill>
          <a:ln/>
        </p:spPr>
      </p:sp>
      <p:sp>
        <p:nvSpPr>
          <p:cNvPr id="11" name="Text 8"/>
          <p:cNvSpPr/>
          <p:nvPr/>
        </p:nvSpPr>
        <p:spPr>
          <a:xfrm>
            <a:off x="795528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SUCCESS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552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458200" y="22585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escalations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458200" y="262432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recall on the conflict class — missing one is costlier than a false alarm.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9552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458200" y="3630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overfitting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458200" y="399592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performance on held-out future data, not just the training window.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95528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458200" y="5001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actionable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458200" y="536752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country-level risk reads from current monthly inputs.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0492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44168" y="4480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WRANGLING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44168" y="70408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62763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48640" y="23957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55848" y="15087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/>
        </p:spPr>
      </p:sp>
      <p:sp>
        <p:nvSpPr>
          <p:cNvPr id="10" name="Text 7"/>
          <p:cNvSpPr/>
          <p:nvPr/>
        </p:nvSpPr>
        <p:spPr>
          <a:xfrm>
            <a:off x="3355848" y="162763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1,320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3355848" y="23957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ROWS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63056" y="15087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/>
        </p:spPr>
      </p:sp>
      <p:sp>
        <p:nvSpPr>
          <p:cNvPr id="13" name="Text 10"/>
          <p:cNvSpPr/>
          <p:nvPr/>
        </p:nvSpPr>
        <p:spPr>
          <a:xfrm>
            <a:off x="6163056" y="162763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2020–25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6163056" y="23957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970264" y="15087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/>
        </p:spPr>
      </p:sp>
      <p:sp>
        <p:nvSpPr>
          <p:cNvPr id="16" name="Text 13"/>
          <p:cNvSpPr/>
          <p:nvPr/>
        </p:nvSpPr>
        <p:spPr>
          <a:xfrm>
            <a:off x="8970264" y="162763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→ 49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8970264" y="23957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 AFTER ENGINEERING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THE “TOO-CLEAN” DATA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3611880"/>
            <a:ext cx="5440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null values was the first red flag — a sign of fabricated fill, not pristine collection.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features (e.g. election_cycle, all zeros across 1,320 rows) were dropped.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last_conflict_year was repaired with datetime parsing and boolean masks to filter bad values.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5508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FOR EDA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355080" y="3611880"/>
            <a:ext cx="5303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each column as numeric, categorical-string, or categorical-number.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outlier filters and visualized distributions before modeling.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the problem as a strong candidate for multivariate logistic regression — the starting baseline.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0492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44168" y="4480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REVEALED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44168" y="70408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486400" cy="4892040"/>
          </a:xfrm>
          <a:prstGeom prst="roundRect">
            <a:avLst>
              <a:gd name="adj" fmla="val 1869"/>
            </a:avLst>
          </a:prstGeom>
          <a:solidFill>
            <a:srgbClr val="16222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28800"/>
            <a:ext cx="640080" cy="64008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199339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18745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validity surprise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868680" y="26974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CA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conflict_escalation_6m target often failed to map to real-world events. No alarm preceded the U.S. January 6 insurrection.</a:t>
            </a: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CA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raised real doubts about how “conflict escalation” was defined in the dataset — and shaped how every later result should be read.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68680" y="52120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metrics later reflect the model learning the dataset’s labels — an imperfect proxy for ground truth.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40080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CLEAR PATTERNS DID EMERGE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0" y="2057400"/>
            <a:ext cx="146304" cy="146304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4" name="Text 10"/>
          <p:cNvSpPr/>
          <p:nvPr/>
        </p:nvSpPr>
        <p:spPr>
          <a:xfrm>
            <a:off x="6675120" y="19568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mapped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675120" y="226771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matrices exposed redundant features, trimming dimensionality and revealing how variables interact with the target.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0" y="3154680"/>
            <a:ext cx="146304" cy="146304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7" name="Text 13"/>
          <p:cNvSpPr/>
          <p:nvPr/>
        </p:nvSpPr>
        <p:spPr>
          <a:xfrm>
            <a:off x="6675120" y="30540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structure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6675120" y="336499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Country-by-country timelines plotted each indicator against escalation events to surface visual relationships.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400800" y="4251960"/>
            <a:ext cx="146304" cy="146304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20" name="Text 16"/>
          <p:cNvSpPr/>
          <p:nvPr/>
        </p:nvSpPr>
        <p:spPr>
          <a:xfrm>
            <a:off x="6675120" y="415137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buildup as a signal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6675120" y="446227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interstate cases (e.g. Russia–Ukraine), arms imports and military spending rose in the months before armed conflict.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400800" y="5349240"/>
            <a:ext cx="146304" cy="146304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23" name="Text 19"/>
          <p:cNvSpPr/>
          <p:nvPr/>
        </p:nvSpPr>
        <p:spPr>
          <a:xfrm>
            <a:off x="6675120" y="524865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confounder flagged</a:t>
            </a:r>
            <a:endParaRPr lang="en-US" sz="1450" dirty="0"/>
          </a:p>
        </p:txBody>
      </p:sp>
      <p:sp>
        <p:nvSpPr>
          <p:cNvPr id="24" name="Text 20"/>
          <p:cNvSpPr/>
          <p:nvPr/>
        </p:nvSpPr>
        <p:spPr>
          <a:xfrm>
            <a:off x="6675120" y="555955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instability_score correlated almost perfectly with the target — likely a confounding variable, not a clean predictor.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0492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44168" y="4480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BASELINE TO BEST FIT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44168" y="70408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time-series split trained on past months to predict future escalations. Each model was judged on its ability to catch the conflict class (recall), where the baseline struggled most.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057400"/>
          <a:ext cx="69494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7772400" y="2148840"/>
            <a:ext cx="3886200" cy="1325880"/>
          </a:xfrm>
          <a:prstGeom prst="roundRect">
            <a:avLst>
              <a:gd name="adj" fmla="val 5517"/>
            </a:avLst>
          </a:prstGeom>
          <a:solidFill>
            <a:srgbClr val="F1F4F7"/>
          </a:solidFill>
          <a:ln/>
        </p:spPr>
      </p:sp>
      <p:sp>
        <p:nvSpPr>
          <p:cNvPr id="9" name="Text 5"/>
          <p:cNvSpPr/>
          <p:nvPr/>
        </p:nvSpPr>
        <p:spPr>
          <a:xfrm>
            <a:off x="8001000" y="2267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fell short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001000" y="26060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logistic regression caught only 65% of escalations — barely better than a coin flip on the class that matters.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772400" y="3611880"/>
            <a:ext cx="3886200" cy="1325880"/>
          </a:xfrm>
          <a:prstGeom prst="roundRect">
            <a:avLst>
              <a:gd name="adj" fmla="val 5517"/>
            </a:avLst>
          </a:prstGeom>
          <a:solidFill>
            <a:srgbClr val="F1F4F7"/>
          </a:solidFill>
          <a:ln/>
        </p:spPr>
      </p:sp>
      <p:sp>
        <p:nvSpPr>
          <p:cNvPr id="12" name="Text 8"/>
          <p:cNvSpPr/>
          <p:nvPr/>
        </p:nvSpPr>
        <p:spPr>
          <a:xfrm>
            <a:off x="8001000" y="37307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leapt ahead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001000" y="4069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lifted conflict recall to 95% immediately, a step-change over baseline.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772400" y="5074920"/>
            <a:ext cx="3886200" cy="1325880"/>
          </a:xfrm>
          <a:prstGeom prst="roundRect">
            <a:avLst>
              <a:gd name="adj" fmla="val 5517"/>
            </a:avLst>
          </a:prstGeom>
          <a:solidFill>
            <a:srgbClr val="F1F4F7"/>
          </a:solidFill>
          <a:ln/>
        </p:spPr>
      </p:sp>
      <p:sp>
        <p:nvSpPr>
          <p:cNvPr id="15" name="Text 11"/>
          <p:cNvSpPr/>
          <p:nvPr/>
        </p:nvSpPr>
        <p:spPr>
          <a:xfrm>
            <a:off x="8001000" y="51937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sealed it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001000" y="55321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grid search produced the strongest fit: 97% recall on escalations. SVM, even tuned, couldn’t beat it.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0492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44168" y="4480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MODEL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44168" y="70408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Tuned LightGBM — Performance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585216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291840" y="16002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3328416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ESCALATIONS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035040" y="16002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6071616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ON ESCALATIONS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CA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107 of 110 actual escalations — at the cost of 22 false alarms. The right trade when a miss is costlier than a false positive.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A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 (TEST SET, n = 360)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89120"/>
          <a:ext cx="4937760" cy="173736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7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AD7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228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42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AD7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107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035040" y="4069080"/>
            <a:ext cx="5623560" cy="2286000"/>
          </a:xfrm>
          <a:prstGeom prst="roundRect">
            <a:avLst>
              <a:gd name="adj" fmla="val 3200"/>
            </a:avLst>
          </a:prstGeom>
          <a:solidFill>
            <a:srgbClr val="1E2D3A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5508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HYPERPARAMETERS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355080" y="4709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 = 100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9052560" y="4709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learning_rate = 0.01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355080" y="5239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num_leaves = 80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9052560" y="5239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subsample = 0.8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355080" y="57698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colsample_bytree = 1.0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9052560" y="57698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scale_pos_weight = 2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0492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44168" y="4480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DROVE THE PREDICTIONS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44168" y="70408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In-Depth Analysis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features that rose to the top were as revealing as the accuracy itself.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5943600" cy="1325880"/>
          </a:xfrm>
          <a:prstGeom prst="roundRect">
            <a:avLst>
              <a:gd name="adj" fmla="val 5517"/>
            </a:avLst>
          </a:prstGeom>
          <a:solidFill>
            <a:srgbClr val="F1F4F7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2331720"/>
            <a:ext cx="566928" cy="566928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508760" y="213055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Instability score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08760" y="249631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 — but its near-perfect correlation suggests a confounder, not a true leading signal.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3429000"/>
            <a:ext cx="5943600" cy="1325880"/>
          </a:xfrm>
          <a:prstGeom prst="roundRect">
            <a:avLst>
              <a:gd name="adj" fmla="val 5517"/>
            </a:avLst>
          </a:prstGeom>
          <a:solidFill>
            <a:srgbClr val="F1F4F7"/>
          </a:solidFill>
          <a:ln/>
        </p:spPr>
      </p:sp>
      <p:sp>
        <p:nvSpPr>
          <p:cNvPr id="13" name="Shape 10"/>
          <p:cNvSpPr/>
          <p:nvPr/>
        </p:nvSpPr>
        <p:spPr>
          <a:xfrm>
            <a:off x="777240" y="3794760"/>
            <a:ext cx="566928" cy="566928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1508760" y="35935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imports (lag 1)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508760" y="395935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Prior-month arms imports — a concrete, forward-looking indicator of buildup.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4892040"/>
            <a:ext cx="5943600" cy="1325880"/>
          </a:xfrm>
          <a:prstGeom prst="roundRect">
            <a:avLst>
              <a:gd name="adj" fmla="val 5517"/>
            </a:avLst>
          </a:prstGeom>
          <a:solidFill>
            <a:srgbClr val="F1F4F7"/>
          </a:solidFill>
          <a:ln/>
        </p:spPr>
      </p:sp>
      <p:sp>
        <p:nvSpPr>
          <p:cNvPr id="18" name="Shape 15"/>
          <p:cNvSpPr/>
          <p:nvPr/>
        </p:nvSpPr>
        <p:spPr>
          <a:xfrm>
            <a:off x="777240" y="5257800"/>
            <a:ext cx="566928" cy="566928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5257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1508760" y="50566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imports (6-month rolling)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508760" y="542239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import trends reinforce the same escalation signal over time.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720840" y="1965960"/>
            <a:ext cx="4937760" cy="4434840"/>
          </a:xfrm>
          <a:prstGeom prst="roundRect">
            <a:avLst>
              <a:gd name="adj" fmla="val 2062"/>
            </a:avLst>
          </a:prstGeom>
          <a:solidFill>
            <a:srgbClr val="16222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040880" y="2286000"/>
            <a:ext cx="603504" cy="603504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28" y="2441448"/>
            <a:ext cx="292608" cy="29260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818120" y="2331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insight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7040880" y="310896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CA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imports ranking 2nd and 3rd strongly implies the target captures </a:t>
            </a:r>
            <a:pPr indent="0" marL="0">
              <a:lnSpc>
                <a:spcPct val="128000"/>
              </a:lnSpc>
              <a:buNone/>
            </a:pPr>
            <a:r>
              <a:rPr lang="en-US" sz="1550" b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interstate armed conflict</a:t>
            </a:r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CA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where military buildup is visible months ahead — rather than </a:t>
            </a:r>
            <a:pPr indent="0" marL="0">
              <a:lnSpc>
                <a:spcPct val="128000"/>
              </a:lnSpc>
              <a:buNone/>
            </a:pPr>
            <a:r>
              <a:rPr lang="en-US" sz="1550" b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civil unrest</a:t>
            </a:r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CA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the model and the data consistently failed to anticipate.</a:t>
            </a:r>
            <a:endParaRPr lang="en-US" sz="1550" dirty="0"/>
          </a:p>
        </p:txBody>
      </p:sp>
      <p:sp>
        <p:nvSpPr>
          <p:cNvPr id="27" name="Text 23"/>
          <p:cNvSpPr/>
          <p:nvPr/>
        </p:nvSpPr>
        <p:spPr>
          <a:xfrm>
            <a:off x="7040880" y="52578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armed-conflict cases, the writing is on the wall. In civil ones, it stays invisible to the indicators we know how to measure.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206240" cy="4206240"/>
          </a:xfrm>
          <a:prstGeom prst="ellipse">
            <a:avLst/>
          </a:prstGeom>
          <a:solidFill>
            <a:srgbClr val="3D5A7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658368" cy="658368"/>
          </a:xfrm>
          <a:prstGeom prst="ellipse">
            <a:avLst/>
          </a:prstGeom>
          <a:solidFill>
            <a:srgbClr val="C0492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81381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71600" y="86868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capable model — and an honest caveat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1E2D3A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057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41248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on paper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1248" y="29718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A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LightGBM reached 93% accuracy and caught 97% of escalations — a dramatic lift over a baseline that barely beat chance.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99632" y="182880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1E2D3A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73952" y="2057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49224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features tell a story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9718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A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imports surfacing as top signals reveal the target tracks interstate armed conflict, not civil unrest.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97764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1E2D3A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4206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41248" y="4754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as a signal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41248" y="512064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A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faithfully learned the dataset’s labels — an imperfect, sometimes erratic proxy for real-world conflict.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199632" y="397764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1E2D3A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73952" y="4206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492240" y="4754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92240" y="512064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A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rigorously defined target and broader, better-validated data could make this framework genuinely useful.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Geopolitical Conflict Risk</dc:title>
  <dc:subject>PptxGenJS Presentation</dc:subject>
  <dc:creator>Ryan Lange</dc:creator>
  <cp:lastModifiedBy>Ryan Lange</cp:lastModifiedBy>
  <cp:revision>1</cp:revision>
  <dcterms:created xsi:type="dcterms:W3CDTF">2026-06-26T07:30:10Z</dcterms:created>
  <dcterms:modified xsi:type="dcterms:W3CDTF">2026-06-26T07:30:10Z</dcterms:modified>
</cp:coreProperties>
</file>